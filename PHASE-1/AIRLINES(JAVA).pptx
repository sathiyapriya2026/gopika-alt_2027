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Poppins" panose="00000500000000000000" pitchFamily="2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26" y="-3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12536" y="779930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81190" y="-24930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76216" y="574190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738296"/>
            <a:ext cx="437422" cy="435832"/>
          </a:xfrm>
          <a:custGeom>
            <a:avLst/>
            <a:gdLst/>
            <a:ahLst/>
            <a:cxnLst/>
            <a:rect l="l" t="t" r="r" b="b"/>
            <a:pathLst>
              <a:path w="437422" h="435832">
                <a:moveTo>
                  <a:pt x="0" y="0"/>
                </a:moveTo>
                <a:lnTo>
                  <a:pt x="437422" y="0"/>
                </a:lnTo>
                <a:lnTo>
                  <a:pt x="437422" y="435832"/>
                </a:lnTo>
                <a:lnTo>
                  <a:pt x="0" y="4358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601997"/>
            <a:ext cx="9144784" cy="323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8"/>
              </a:lnSpc>
            </a:pPr>
            <a:r>
              <a:rPr lang="en-US" sz="12038" spc="-6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AIRLINE </a:t>
            </a:r>
          </a:p>
          <a:p>
            <a:pPr algn="ctr">
              <a:lnSpc>
                <a:spcPts val="12038"/>
              </a:lnSpc>
            </a:pPr>
            <a:r>
              <a:rPr lang="en-US" sz="12038" spc="-6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RESERVATION</a:t>
            </a:r>
          </a:p>
          <a:p>
            <a:pPr algn="ctr">
              <a:lnSpc>
                <a:spcPts val="12038"/>
              </a:lnSpc>
            </a:pPr>
            <a:r>
              <a:rPr lang="en-US" sz="12038" spc="-6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57940" y="738724"/>
            <a:ext cx="194838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E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68915" y="738724"/>
            <a:ext cx="2188296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10E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19161" y="728126"/>
            <a:ext cx="191411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10E20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97736" y="8994982"/>
            <a:ext cx="2161564" cy="263318"/>
          </a:xfrm>
          <a:custGeom>
            <a:avLst/>
            <a:gdLst/>
            <a:ahLst/>
            <a:cxnLst/>
            <a:rect l="l" t="t" r="r" b="b"/>
            <a:pathLst>
              <a:path w="2161564" h="263318">
                <a:moveTo>
                  <a:pt x="0" y="0"/>
                </a:moveTo>
                <a:lnTo>
                  <a:pt x="2161564" y="0"/>
                </a:lnTo>
                <a:lnTo>
                  <a:pt x="2161564" y="263318"/>
                </a:lnTo>
                <a:lnTo>
                  <a:pt x="0" y="263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77490" y="971550"/>
            <a:ext cx="153302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720161" y="4095557"/>
            <a:ext cx="9864161" cy="6634364"/>
            <a:chOff x="0" y="0"/>
            <a:chExt cx="2597968" cy="17473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97968" cy="1747322"/>
            </a:xfrm>
            <a:custGeom>
              <a:avLst/>
              <a:gdLst/>
              <a:ahLst/>
              <a:cxnLst/>
              <a:rect l="l" t="t" r="r" b="b"/>
              <a:pathLst>
                <a:path w="2597968" h="1747322">
                  <a:moveTo>
                    <a:pt x="54940" y="0"/>
                  </a:moveTo>
                  <a:lnTo>
                    <a:pt x="2543029" y="0"/>
                  </a:lnTo>
                  <a:cubicBezTo>
                    <a:pt x="2557600" y="0"/>
                    <a:pt x="2571574" y="5788"/>
                    <a:pt x="2581877" y="16091"/>
                  </a:cubicBezTo>
                  <a:cubicBezTo>
                    <a:pt x="2592180" y="26395"/>
                    <a:pt x="2597968" y="40369"/>
                    <a:pt x="2597968" y="54940"/>
                  </a:cubicBezTo>
                  <a:lnTo>
                    <a:pt x="2597968" y="1692383"/>
                  </a:lnTo>
                  <a:cubicBezTo>
                    <a:pt x="2597968" y="1706953"/>
                    <a:pt x="2592180" y="1720928"/>
                    <a:pt x="2581877" y="1731231"/>
                  </a:cubicBezTo>
                  <a:cubicBezTo>
                    <a:pt x="2571574" y="1741534"/>
                    <a:pt x="2557600" y="1747322"/>
                    <a:pt x="2543029" y="1747322"/>
                  </a:cubicBezTo>
                  <a:lnTo>
                    <a:pt x="54940" y="1747322"/>
                  </a:lnTo>
                  <a:cubicBezTo>
                    <a:pt x="40369" y="1747322"/>
                    <a:pt x="26395" y="1741534"/>
                    <a:pt x="16091" y="1731231"/>
                  </a:cubicBezTo>
                  <a:cubicBezTo>
                    <a:pt x="5788" y="1720928"/>
                    <a:pt x="0" y="1706953"/>
                    <a:pt x="0" y="1692383"/>
                  </a:cubicBezTo>
                  <a:lnTo>
                    <a:pt x="0" y="54940"/>
                  </a:lnTo>
                  <a:cubicBezTo>
                    <a:pt x="0" y="40369"/>
                    <a:pt x="5788" y="26395"/>
                    <a:pt x="16091" y="16091"/>
                  </a:cubicBezTo>
                  <a:cubicBezTo>
                    <a:pt x="26395" y="5788"/>
                    <a:pt x="40369" y="0"/>
                    <a:pt x="54940" y="0"/>
                  </a:cubicBezTo>
                  <a:close/>
                </a:path>
              </a:pathLst>
            </a:custGeom>
            <a:solidFill>
              <a:srgbClr val="004BB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97968" cy="180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64089" y="2330302"/>
            <a:ext cx="6915574" cy="123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5"/>
              </a:lnSpc>
            </a:pPr>
            <a:r>
              <a:rPr lang="en-US" sz="8040" dirty="0">
                <a:solidFill>
                  <a:srgbClr val="010E20"/>
                </a:solidFill>
                <a:latin typeface="Poppins"/>
                <a:ea typeface="Poppins"/>
                <a:cs typeface="Poppins"/>
                <a:sym typeface="Poppins"/>
              </a:rPr>
              <a:t>About Us: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43726" y="3641407"/>
            <a:ext cx="6232725" cy="350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9"/>
              </a:lnSpc>
            </a:pPr>
            <a:r>
              <a:rPr lang="en-US" sz="3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MATTHEW JEFF D</a:t>
            </a:r>
          </a:p>
          <a:p>
            <a:pPr algn="just">
              <a:lnSpc>
                <a:spcPts val="5609"/>
              </a:lnSpc>
            </a:pPr>
            <a:r>
              <a:rPr lang="en-US" sz="3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GOPIKA R</a:t>
            </a:r>
          </a:p>
          <a:p>
            <a:pPr algn="just">
              <a:lnSpc>
                <a:spcPts val="5609"/>
              </a:lnSpc>
            </a:pPr>
            <a:r>
              <a:rPr lang="en-US" sz="3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TAMILARASU M</a:t>
            </a:r>
          </a:p>
          <a:p>
            <a:pPr algn="just">
              <a:lnSpc>
                <a:spcPts val="5609"/>
              </a:lnSpc>
            </a:pPr>
            <a:r>
              <a:rPr lang="en-US" sz="3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ARAVINDHAN T</a:t>
            </a:r>
          </a:p>
          <a:p>
            <a:pPr algn="just">
              <a:lnSpc>
                <a:spcPts val="5609"/>
              </a:lnSpc>
            </a:pPr>
            <a:endParaRPr lang="en-US" sz="32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88856" y="5903728"/>
            <a:ext cx="1533021" cy="34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More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56243" y="7288914"/>
            <a:ext cx="4308128" cy="80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Let’s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97736" y="8994982"/>
            <a:ext cx="2161564" cy="263318"/>
          </a:xfrm>
          <a:custGeom>
            <a:avLst/>
            <a:gdLst/>
            <a:ahLst/>
            <a:cxnLst/>
            <a:rect l="l" t="t" r="r" b="b"/>
            <a:pathLst>
              <a:path w="2161564" h="263318">
                <a:moveTo>
                  <a:pt x="0" y="0"/>
                </a:moveTo>
                <a:lnTo>
                  <a:pt x="2161564" y="0"/>
                </a:lnTo>
                <a:lnTo>
                  <a:pt x="2161564" y="263318"/>
                </a:lnTo>
                <a:lnTo>
                  <a:pt x="0" y="263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060" y="178076"/>
            <a:ext cx="5755358" cy="10287000"/>
          </a:xfrm>
          <a:custGeom>
            <a:avLst/>
            <a:gdLst/>
            <a:ahLst/>
            <a:cxnLst/>
            <a:rect l="l" t="t" r="r" b="b"/>
            <a:pathLst>
              <a:path w="5755358" h="10287000">
                <a:moveTo>
                  <a:pt x="0" y="0"/>
                </a:moveTo>
                <a:lnTo>
                  <a:pt x="5755358" y="0"/>
                </a:lnTo>
                <a:lnTo>
                  <a:pt x="57553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85" r="-214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77490" y="971550"/>
            <a:ext cx="153302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76908" y="6265364"/>
            <a:ext cx="12055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961231"/>
            <a:ext cx="144123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90418" y="1235075"/>
            <a:ext cx="12532642" cy="6358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5"/>
              </a:lnSpc>
            </a:pPr>
            <a:r>
              <a:rPr lang="en-US" sz="329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  <a:p>
            <a:pPr algn="l">
              <a:lnSpc>
                <a:spcPts val="4195"/>
              </a:lnSpc>
            </a:pPr>
            <a:endParaRPr lang="en-US" sz="3296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7000" lvl="1" indent="-323500" algn="l">
              <a:lnSpc>
                <a:spcPts val="4195"/>
              </a:lnSpc>
              <a:buFont typeface="Arial"/>
              <a:buChar char="•"/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Airline Reservation System (ARS) is a computerized platform for booking and managing airline tickets.</a:t>
            </a:r>
          </a:p>
          <a:p>
            <a:pPr marL="647000" lvl="1" indent="-323500" algn="l">
              <a:lnSpc>
                <a:spcPts val="4195"/>
              </a:lnSpc>
              <a:buFont typeface="Arial"/>
              <a:buChar char="•"/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Replaces manual booking with an automated, accurate, and fast system.</a:t>
            </a:r>
          </a:p>
          <a:p>
            <a:pPr marL="647000" lvl="1" indent="-323500" algn="l">
              <a:lnSpc>
                <a:spcPts val="4195"/>
              </a:lnSpc>
              <a:buFont typeface="Arial"/>
              <a:buChar char="•"/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real-time flight schedules, seat availability, and fare details.</a:t>
            </a:r>
          </a:p>
          <a:p>
            <a:pPr marL="647000" lvl="1" indent="-323500" algn="l">
              <a:lnSpc>
                <a:spcPts val="4195"/>
              </a:lnSpc>
              <a:buFont typeface="Arial"/>
              <a:buChar char="•"/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passenger details, manages reservations, cancellations, and payments.</a:t>
            </a:r>
          </a:p>
          <a:p>
            <a:pPr marL="647000" lvl="1" indent="-323500" algn="l">
              <a:lnSpc>
                <a:spcPts val="4195"/>
              </a:lnSpc>
              <a:buFont typeface="Arial"/>
              <a:buChar char="•"/>
            </a:pPr>
            <a:r>
              <a:rPr lang="en-US" sz="29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by airlines, travel agencies, and passengers for efficient ticketing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0442" y="1031519"/>
            <a:ext cx="743874" cy="414933"/>
            <a:chOff x="0" y="0"/>
            <a:chExt cx="991832" cy="55324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91832" cy="113177"/>
              <a:chOff x="0" y="0"/>
              <a:chExt cx="213735" cy="2438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13735" cy="24389"/>
              </a:xfrm>
              <a:custGeom>
                <a:avLst/>
                <a:gdLst/>
                <a:ahLst/>
                <a:cxnLst/>
                <a:rect l="l" t="t" r="r" b="b"/>
                <a:pathLst>
                  <a:path w="213735" h="24389">
                    <a:moveTo>
                      <a:pt x="12195" y="0"/>
                    </a:moveTo>
                    <a:lnTo>
                      <a:pt x="201541" y="0"/>
                    </a:lnTo>
                    <a:cubicBezTo>
                      <a:pt x="208276" y="0"/>
                      <a:pt x="213735" y="5460"/>
                      <a:pt x="213735" y="12195"/>
                    </a:cubicBezTo>
                    <a:lnTo>
                      <a:pt x="213735" y="12195"/>
                    </a:lnTo>
                    <a:cubicBezTo>
                      <a:pt x="213735" y="18929"/>
                      <a:pt x="208276" y="24389"/>
                      <a:pt x="201541" y="24389"/>
                    </a:cubicBezTo>
                    <a:lnTo>
                      <a:pt x="12195" y="24389"/>
                    </a:lnTo>
                    <a:cubicBezTo>
                      <a:pt x="5460" y="24389"/>
                      <a:pt x="0" y="18929"/>
                      <a:pt x="0" y="12195"/>
                    </a:cubicBezTo>
                    <a:lnTo>
                      <a:pt x="0" y="12195"/>
                    </a:lnTo>
                    <a:cubicBezTo>
                      <a:pt x="0" y="5460"/>
                      <a:pt x="5460" y="0"/>
                      <a:pt x="1219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57150"/>
                <a:ext cx="213735" cy="81539"/>
              </a:xfrm>
              <a:prstGeom prst="rect">
                <a:avLst/>
              </a:prstGeom>
            </p:spPr>
            <p:txBody>
              <a:bodyPr lIns="46565" tIns="46565" rIns="46565" bIns="46565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50807" y="222118"/>
              <a:ext cx="841025" cy="113177"/>
              <a:chOff x="0" y="0"/>
              <a:chExt cx="181237" cy="2438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81237" cy="24389"/>
              </a:xfrm>
              <a:custGeom>
                <a:avLst/>
                <a:gdLst/>
                <a:ahLst/>
                <a:cxnLst/>
                <a:rect l="l" t="t" r="r" b="b"/>
                <a:pathLst>
                  <a:path w="181237" h="24389">
                    <a:moveTo>
                      <a:pt x="12195" y="0"/>
                    </a:moveTo>
                    <a:lnTo>
                      <a:pt x="169042" y="0"/>
                    </a:lnTo>
                    <a:cubicBezTo>
                      <a:pt x="175777" y="0"/>
                      <a:pt x="181237" y="5460"/>
                      <a:pt x="181237" y="12195"/>
                    </a:cubicBezTo>
                    <a:lnTo>
                      <a:pt x="181237" y="12195"/>
                    </a:lnTo>
                    <a:cubicBezTo>
                      <a:pt x="181237" y="18929"/>
                      <a:pt x="175777" y="24389"/>
                      <a:pt x="169042" y="24389"/>
                    </a:cubicBezTo>
                    <a:lnTo>
                      <a:pt x="12195" y="24389"/>
                    </a:lnTo>
                    <a:cubicBezTo>
                      <a:pt x="5460" y="24389"/>
                      <a:pt x="0" y="18929"/>
                      <a:pt x="0" y="12195"/>
                    </a:cubicBezTo>
                    <a:lnTo>
                      <a:pt x="0" y="12195"/>
                    </a:lnTo>
                    <a:cubicBezTo>
                      <a:pt x="0" y="5460"/>
                      <a:pt x="5460" y="0"/>
                      <a:pt x="1219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181237" cy="81539"/>
              </a:xfrm>
              <a:prstGeom prst="rect">
                <a:avLst/>
              </a:prstGeom>
            </p:spPr>
            <p:txBody>
              <a:bodyPr lIns="46565" tIns="46565" rIns="46565" bIns="46565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77803" y="440067"/>
              <a:ext cx="714030" cy="113177"/>
              <a:chOff x="0" y="0"/>
              <a:chExt cx="153870" cy="243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53870" cy="24389"/>
              </a:xfrm>
              <a:custGeom>
                <a:avLst/>
                <a:gdLst/>
                <a:ahLst/>
                <a:cxnLst/>
                <a:rect l="l" t="t" r="r" b="b"/>
                <a:pathLst>
                  <a:path w="153870" h="24389">
                    <a:moveTo>
                      <a:pt x="12195" y="0"/>
                    </a:moveTo>
                    <a:lnTo>
                      <a:pt x="141675" y="0"/>
                    </a:lnTo>
                    <a:cubicBezTo>
                      <a:pt x="148410" y="0"/>
                      <a:pt x="153870" y="5460"/>
                      <a:pt x="153870" y="12195"/>
                    </a:cubicBezTo>
                    <a:lnTo>
                      <a:pt x="153870" y="12195"/>
                    </a:lnTo>
                    <a:cubicBezTo>
                      <a:pt x="153870" y="18929"/>
                      <a:pt x="148410" y="24389"/>
                      <a:pt x="141675" y="24389"/>
                    </a:cubicBezTo>
                    <a:lnTo>
                      <a:pt x="12195" y="24389"/>
                    </a:lnTo>
                    <a:cubicBezTo>
                      <a:pt x="5460" y="24389"/>
                      <a:pt x="0" y="18929"/>
                      <a:pt x="0" y="12195"/>
                    </a:cubicBezTo>
                    <a:lnTo>
                      <a:pt x="0" y="12195"/>
                    </a:lnTo>
                    <a:cubicBezTo>
                      <a:pt x="0" y="5460"/>
                      <a:pt x="5460" y="0"/>
                      <a:pt x="1219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53870" cy="81539"/>
              </a:xfrm>
              <a:prstGeom prst="rect">
                <a:avLst/>
              </a:prstGeom>
            </p:spPr>
            <p:txBody>
              <a:bodyPr lIns="46565" tIns="46565" rIns="46565" bIns="46565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0" y="0"/>
            <a:ext cx="5919917" cy="10669005"/>
          </a:xfrm>
          <a:custGeom>
            <a:avLst/>
            <a:gdLst/>
            <a:ahLst/>
            <a:cxnLst/>
            <a:rect l="l" t="t" r="r" b="b"/>
            <a:pathLst>
              <a:path w="5919917" h="10669005">
                <a:moveTo>
                  <a:pt x="0" y="0"/>
                </a:moveTo>
                <a:lnTo>
                  <a:pt x="5919917" y="0"/>
                </a:lnTo>
                <a:lnTo>
                  <a:pt x="5919917" y="10669005"/>
                </a:lnTo>
                <a:lnTo>
                  <a:pt x="0" y="10669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915" r="-3391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031207"/>
            <a:ext cx="153172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Borcelle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80776" y="971550"/>
            <a:ext cx="144123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64687" y="971550"/>
            <a:ext cx="144123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6787" y="6227585"/>
            <a:ext cx="12055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8597" y="6594445"/>
            <a:ext cx="6613279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Sed at ipsum vitae lacus lobortis lacinia. Donec tristique arcu massa, at.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38597" y="6227585"/>
            <a:ext cx="120558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81947" y="55573"/>
            <a:ext cx="12365482" cy="9379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2"/>
              </a:lnSpc>
            </a:pPr>
            <a:r>
              <a:rPr lang="en-US" sz="302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algn="l">
              <a:lnSpc>
                <a:spcPts val="3658"/>
              </a:lnSpc>
            </a:pPr>
            <a:endParaRPr lang="en-US" sz="3023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812"/>
              </a:lnSpc>
              <a:spcBef>
                <a:spcPct val="0"/>
              </a:spcBef>
            </a:pPr>
            <a:endParaRPr lang="en-US" sz="3023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092"/>
              </a:lnSpc>
              <a:spcBef>
                <a:spcPct val="0"/>
              </a:spcBef>
            </a:pPr>
            <a:r>
              <a:rPr lang="en-US" sz="29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main objectives of an Airline Reservation System are:</a:t>
            </a:r>
          </a:p>
          <a:p>
            <a:pPr marL="631148" lvl="1" indent="-315574" algn="l">
              <a:lnSpc>
                <a:spcPts val="4092"/>
              </a:lnSpc>
              <a:spcBef>
                <a:spcPct val="0"/>
              </a:spcBef>
              <a:buAutoNum type="arabicPeriod"/>
            </a:pPr>
            <a:r>
              <a:rPr lang="en-US" sz="29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 booking process to minimize manual work and errors.</a:t>
            </a:r>
          </a:p>
          <a:p>
            <a:pPr marL="631148" lvl="1" indent="-315574" algn="l">
              <a:lnSpc>
                <a:spcPts val="4092"/>
              </a:lnSpc>
              <a:spcBef>
                <a:spcPct val="0"/>
              </a:spcBef>
              <a:buAutoNum type="arabicPeriod"/>
            </a:pPr>
            <a:r>
              <a:rPr lang="en-US" sz="29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real-time information about flights, seat availability, and pricing.</a:t>
            </a:r>
          </a:p>
          <a:p>
            <a:pPr marL="631148" lvl="1" indent="-315574" algn="l">
              <a:lnSpc>
                <a:spcPts val="4092"/>
              </a:lnSpc>
              <a:spcBef>
                <a:spcPct val="0"/>
              </a:spcBef>
              <a:buAutoNum type="arabicPeriod"/>
            </a:pPr>
            <a:r>
              <a:rPr lang="en-US" sz="29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Facilitate secure payment processing for ticket purchases.</a:t>
            </a:r>
          </a:p>
          <a:p>
            <a:pPr marL="631148" lvl="1" indent="-315574" algn="l">
              <a:lnSpc>
                <a:spcPts val="4092"/>
              </a:lnSpc>
              <a:spcBef>
                <a:spcPct val="0"/>
              </a:spcBef>
              <a:buAutoNum type="arabicPeriod"/>
            </a:pPr>
            <a:r>
              <a:rPr lang="en-US" sz="29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customer experience through fast and user-friendly interfaces.</a:t>
            </a:r>
          </a:p>
          <a:p>
            <a:pPr marL="631148" lvl="1" indent="-315574" algn="l">
              <a:lnSpc>
                <a:spcPts val="4092"/>
              </a:lnSpc>
              <a:spcBef>
                <a:spcPct val="0"/>
              </a:spcBef>
              <a:buAutoNum type="arabicPeriod"/>
            </a:pPr>
            <a:r>
              <a:rPr lang="en-US" sz="29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airlines to manage resources such as seats, crew scheduling, and routes effectively.</a:t>
            </a:r>
          </a:p>
          <a:p>
            <a:pPr marL="631148" lvl="1" indent="-315574" algn="l">
              <a:lnSpc>
                <a:spcPts val="4092"/>
              </a:lnSpc>
              <a:spcBef>
                <a:spcPct val="0"/>
              </a:spcBef>
              <a:buAutoNum type="arabicPeriod"/>
            </a:pPr>
            <a:r>
              <a:rPr lang="en-US" sz="29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accurate passenger records for operational and security purposes.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endParaRPr lang="en-US" sz="292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92"/>
              </a:lnSpc>
              <a:spcBef>
                <a:spcPct val="0"/>
              </a:spcBef>
            </a:pPr>
            <a:endParaRPr lang="en-US" sz="292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92"/>
              </a:lnSpc>
              <a:spcBef>
                <a:spcPct val="0"/>
              </a:spcBef>
            </a:pPr>
            <a:endParaRPr lang="en-US" sz="292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392"/>
              </a:lnSpc>
              <a:spcBef>
                <a:spcPct val="0"/>
              </a:spcBef>
            </a:pPr>
            <a:endParaRPr lang="en-US" sz="292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30965"/>
            <a:ext cx="3822061" cy="697095"/>
            <a:chOff x="0" y="0"/>
            <a:chExt cx="538741" cy="982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8741" cy="98259"/>
            </a:xfrm>
            <a:custGeom>
              <a:avLst/>
              <a:gdLst/>
              <a:ahLst/>
              <a:cxnLst/>
              <a:rect l="l" t="t" r="r" b="b"/>
              <a:pathLst>
                <a:path w="538741" h="98259">
                  <a:moveTo>
                    <a:pt x="49130" y="0"/>
                  </a:moveTo>
                  <a:lnTo>
                    <a:pt x="489611" y="0"/>
                  </a:lnTo>
                  <a:cubicBezTo>
                    <a:pt x="516744" y="0"/>
                    <a:pt x="538741" y="21996"/>
                    <a:pt x="538741" y="49130"/>
                  </a:cubicBezTo>
                  <a:lnTo>
                    <a:pt x="538741" y="49130"/>
                  </a:lnTo>
                  <a:cubicBezTo>
                    <a:pt x="538741" y="76263"/>
                    <a:pt x="516744" y="98259"/>
                    <a:pt x="489611" y="98259"/>
                  </a:cubicBezTo>
                  <a:lnTo>
                    <a:pt x="49130" y="98259"/>
                  </a:lnTo>
                  <a:cubicBezTo>
                    <a:pt x="21996" y="98259"/>
                    <a:pt x="0" y="76263"/>
                    <a:pt x="0" y="49130"/>
                  </a:cubicBezTo>
                  <a:lnTo>
                    <a:pt x="0" y="49130"/>
                  </a:lnTo>
                  <a:cubicBezTo>
                    <a:pt x="0" y="21996"/>
                    <a:pt x="21996" y="0"/>
                    <a:pt x="49130" y="0"/>
                  </a:cubicBezTo>
                  <a:close/>
                </a:path>
              </a:pathLst>
            </a:custGeom>
            <a:solidFill>
              <a:srgbClr val="E667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38741" cy="155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KEY FEATURES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71784" y="7680344"/>
            <a:ext cx="6962745" cy="5213313"/>
            <a:chOff x="0" y="0"/>
            <a:chExt cx="1833809" cy="13730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3809" cy="1373053"/>
            </a:xfrm>
            <a:custGeom>
              <a:avLst/>
              <a:gdLst/>
              <a:ahLst/>
              <a:cxnLst/>
              <a:rect l="l" t="t" r="r" b="b"/>
              <a:pathLst>
                <a:path w="1833809" h="1373053">
                  <a:moveTo>
                    <a:pt x="77833" y="0"/>
                  </a:moveTo>
                  <a:lnTo>
                    <a:pt x="1755976" y="0"/>
                  </a:lnTo>
                  <a:cubicBezTo>
                    <a:pt x="1776619" y="0"/>
                    <a:pt x="1796416" y="8200"/>
                    <a:pt x="1811013" y="22797"/>
                  </a:cubicBezTo>
                  <a:cubicBezTo>
                    <a:pt x="1825609" y="37393"/>
                    <a:pt x="1833809" y="57191"/>
                    <a:pt x="1833809" y="77833"/>
                  </a:cubicBezTo>
                  <a:lnTo>
                    <a:pt x="1833809" y="1295220"/>
                  </a:lnTo>
                  <a:cubicBezTo>
                    <a:pt x="1833809" y="1338206"/>
                    <a:pt x="1798962" y="1373053"/>
                    <a:pt x="1755976" y="1373053"/>
                  </a:cubicBezTo>
                  <a:lnTo>
                    <a:pt x="77833" y="1373053"/>
                  </a:lnTo>
                  <a:cubicBezTo>
                    <a:pt x="34847" y="1373053"/>
                    <a:pt x="0" y="1338206"/>
                    <a:pt x="0" y="1295220"/>
                  </a:cubicBezTo>
                  <a:lnTo>
                    <a:pt x="0" y="77833"/>
                  </a:lnTo>
                  <a:cubicBezTo>
                    <a:pt x="0" y="34847"/>
                    <a:pt x="34847" y="0"/>
                    <a:pt x="77833" y="0"/>
                  </a:cubicBezTo>
                  <a:close/>
                </a:path>
              </a:pathLst>
            </a:custGeom>
            <a:solidFill>
              <a:srgbClr val="004B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33809" cy="143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00955" y="-1153000"/>
            <a:ext cx="6962745" cy="5213313"/>
            <a:chOff x="0" y="0"/>
            <a:chExt cx="1833809" cy="137305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3809" cy="1373053"/>
            </a:xfrm>
            <a:custGeom>
              <a:avLst/>
              <a:gdLst/>
              <a:ahLst/>
              <a:cxnLst/>
              <a:rect l="l" t="t" r="r" b="b"/>
              <a:pathLst>
                <a:path w="1833809" h="1373053">
                  <a:moveTo>
                    <a:pt x="77833" y="0"/>
                  </a:moveTo>
                  <a:lnTo>
                    <a:pt x="1755976" y="0"/>
                  </a:lnTo>
                  <a:cubicBezTo>
                    <a:pt x="1776619" y="0"/>
                    <a:pt x="1796416" y="8200"/>
                    <a:pt x="1811013" y="22797"/>
                  </a:cubicBezTo>
                  <a:cubicBezTo>
                    <a:pt x="1825609" y="37393"/>
                    <a:pt x="1833809" y="57191"/>
                    <a:pt x="1833809" y="77833"/>
                  </a:cubicBezTo>
                  <a:lnTo>
                    <a:pt x="1833809" y="1295220"/>
                  </a:lnTo>
                  <a:cubicBezTo>
                    <a:pt x="1833809" y="1338206"/>
                    <a:pt x="1798962" y="1373053"/>
                    <a:pt x="1755976" y="1373053"/>
                  </a:cubicBezTo>
                  <a:lnTo>
                    <a:pt x="77833" y="1373053"/>
                  </a:lnTo>
                  <a:cubicBezTo>
                    <a:pt x="34847" y="1373053"/>
                    <a:pt x="0" y="1338206"/>
                    <a:pt x="0" y="1295220"/>
                  </a:cubicBezTo>
                  <a:lnTo>
                    <a:pt x="0" y="77833"/>
                  </a:lnTo>
                  <a:cubicBezTo>
                    <a:pt x="0" y="34847"/>
                    <a:pt x="34847" y="0"/>
                    <a:pt x="77833" y="0"/>
                  </a:cubicBezTo>
                  <a:close/>
                </a:path>
              </a:pathLst>
            </a:custGeom>
            <a:solidFill>
              <a:srgbClr val="004BB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833809" cy="143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302123" y="2092480"/>
            <a:ext cx="651771" cy="648215"/>
          </a:xfrm>
          <a:custGeom>
            <a:avLst/>
            <a:gdLst/>
            <a:ahLst/>
            <a:cxnLst/>
            <a:rect l="l" t="t" r="r" b="b"/>
            <a:pathLst>
              <a:path w="651771" h="648215">
                <a:moveTo>
                  <a:pt x="651771" y="0"/>
                </a:moveTo>
                <a:lnTo>
                  <a:pt x="0" y="0"/>
                </a:lnTo>
                <a:lnTo>
                  <a:pt x="0" y="648216"/>
                </a:lnTo>
                <a:lnTo>
                  <a:pt x="651771" y="648216"/>
                </a:lnTo>
                <a:lnTo>
                  <a:pt x="6517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22730" y="3207421"/>
            <a:ext cx="12642676" cy="407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7" lvl="1" indent="-356233" algn="just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 all available flights with seat availability.</a:t>
            </a:r>
          </a:p>
          <a:p>
            <a:pPr marL="712467" lvl="1" indent="-356233" algn="just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Book a ticket by entering passenger details.</a:t>
            </a:r>
          </a:p>
          <a:p>
            <a:pPr marL="712467" lvl="1" indent="-356233" algn="just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seat number allocation.</a:t>
            </a:r>
          </a:p>
          <a:p>
            <a:pPr marL="712467" lvl="1" indent="-356233" algn="just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 passenger list for a selected flight.</a:t>
            </a:r>
          </a:p>
          <a:p>
            <a:pPr marL="712467" lvl="1" indent="-356233" algn="just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Prevents booking when seats are full.</a:t>
            </a:r>
          </a:p>
          <a:p>
            <a:pPr marL="712467" lvl="1" indent="-356233" algn="just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Menu-driven console interface.</a:t>
            </a:r>
          </a:p>
          <a:p>
            <a:pPr marL="712467" lvl="1" indent="-356233" algn="just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data in ArrayList during program execution.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705898" y="4488167"/>
            <a:ext cx="3060007" cy="306000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8191" y="0"/>
                  </a:moveTo>
                  <a:lnTo>
                    <a:pt x="754609" y="0"/>
                  </a:lnTo>
                  <a:cubicBezTo>
                    <a:pt x="786747" y="0"/>
                    <a:pt x="812800" y="26053"/>
                    <a:pt x="812800" y="58191"/>
                  </a:cubicBezTo>
                  <a:lnTo>
                    <a:pt x="812800" y="754609"/>
                  </a:lnTo>
                  <a:cubicBezTo>
                    <a:pt x="812800" y="786747"/>
                    <a:pt x="786747" y="812800"/>
                    <a:pt x="754609" y="812800"/>
                  </a:cubicBezTo>
                  <a:lnTo>
                    <a:pt x="58191" y="812800"/>
                  </a:lnTo>
                  <a:cubicBezTo>
                    <a:pt x="26053" y="812800"/>
                    <a:pt x="0" y="786747"/>
                    <a:pt x="0" y="754609"/>
                  </a:cubicBezTo>
                  <a:lnTo>
                    <a:pt x="0" y="58191"/>
                  </a:lnTo>
                  <a:cubicBezTo>
                    <a:pt x="0" y="26053"/>
                    <a:pt x="26053" y="0"/>
                    <a:pt x="58191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4952324" y="6859915"/>
            <a:ext cx="3060007" cy="30600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8191" y="0"/>
                  </a:moveTo>
                  <a:lnTo>
                    <a:pt x="754609" y="0"/>
                  </a:lnTo>
                  <a:cubicBezTo>
                    <a:pt x="786747" y="0"/>
                    <a:pt x="812800" y="26053"/>
                    <a:pt x="812800" y="58191"/>
                  </a:cubicBezTo>
                  <a:lnTo>
                    <a:pt x="812800" y="754609"/>
                  </a:lnTo>
                  <a:cubicBezTo>
                    <a:pt x="812800" y="786747"/>
                    <a:pt x="786747" y="812800"/>
                    <a:pt x="754609" y="812800"/>
                  </a:cubicBezTo>
                  <a:lnTo>
                    <a:pt x="58191" y="812800"/>
                  </a:lnTo>
                  <a:cubicBezTo>
                    <a:pt x="26053" y="812800"/>
                    <a:pt x="0" y="786747"/>
                    <a:pt x="0" y="754609"/>
                  </a:cubicBezTo>
                  <a:lnTo>
                    <a:pt x="0" y="58191"/>
                  </a:lnTo>
                  <a:cubicBezTo>
                    <a:pt x="0" y="26053"/>
                    <a:pt x="26053" y="0"/>
                    <a:pt x="58191" y="0"/>
                  </a:cubicBezTo>
                  <a:close/>
                </a:path>
              </a:pathLst>
            </a:custGeom>
            <a:blipFill>
              <a:blip r:embed="rId4"/>
              <a:stretch>
                <a:fillRect l="-24906" r="-2490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065" y="331605"/>
            <a:ext cx="7259919" cy="697095"/>
            <a:chOff x="0" y="0"/>
            <a:chExt cx="1023326" cy="982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3326" cy="98259"/>
            </a:xfrm>
            <a:custGeom>
              <a:avLst/>
              <a:gdLst/>
              <a:ahLst/>
              <a:cxnLst/>
              <a:rect l="l" t="t" r="r" b="b"/>
              <a:pathLst>
                <a:path w="1023326" h="98259">
                  <a:moveTo>
                    <a:pt x="27726" y="0"/>
                  </a:moveTo>
                  <a:lnTo>
                    <a:pt x="995599" y="0"/>
                  </a:lnTo>
                  <a:cubicBezTo>
                    <a:pt x="1010912" y="0"/>
                    <a:pt x="1023326" y="12413"/>
                    <a:pt x="1023326" y="27726"/>
                  </a:cubicBezTo>
                  <a:lnTo>
                    <a:pt x="1023326" y="70533"/>
                  </a:lnTo>
                  <a:cubicBezTo>
                    <a:pt x="1023326" y="77887"/>
                    <a:pt x="1020404" y="84939"/>
                    <a:pt x="1015205" y="90139"/>
                  </a:cubicBezTo>
                  <a:cubicBezTo>
                    <a:pt x="1010005" y="95338"/>
                    <a:pt x="1002953" y="98259"/>
                    <a:pt x="995599" y="98259"/>
                  </a:cubicBezTo>
                  <a:lnTo>
                    <a:pt x="27726" y="98259"/>
                  </a:lnTo>
                  <a:cubicBezTo>
                    <a:pt x="20373" y="98259"/>
                    <a:pt x="13320" y="95338"/>
                    <a:pt x="8121" y="90139"/>
                  </a:cubicBezTo>
                  <a:cubicBezTo>
                    <a:pt x="2921" y="84939"/>
                    <a:pt x="0" y="77887"/>
                    <a:pt x="0" y="70533"/>
                  </a:cubicBezTo>
                  <a:lnTo>
                    <a:pt x="0" y="27726"/>
                  </a:lnTo>
                  <a:cubicBezTo>
                    <a:pt x="0" y="20373"/>
                    <a:pt x="2921" y="13320"/>
                    <a:pt x="8121" y="8121"/>
                  </a:cubicBezTo>
                  <a:cubicBezTo>
                    <a:pt x="13320" y="2921"/>
                    <a:pt x="20373" y="0"/>
                    <a:pt x="27726" y="0"/>
                  </a:cubicBezTo>
                  <a:close/>
                </a:path>
              </a:pathLst>
            </a:custGeom>
            <a:solidFill>
              <a:srgbClr val="E667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3326" cy="13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932081" y="4140577"/>
            <a:ext cx="9864161" cy="6634364"/>
            <a:chOff x="0" y="0"/>
            <a:chExt cx="2597968" cy="17473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97968" cy="1747322"/>
            </a:xfrm>
            <a:custGeom>
              <a:avLst/>
              <a:gdLst/>
              <a:ahLst/>
              <a:cxnLst/>
              <a:rect l="l" t="t" r="r" b="b"/>
              <a:pathLst>
                <a:path w="2597968" h="1747322">
                  <a:moveTo>
                    <a:pt x="54940" y="0"/>
                  </a:moveTo>
                  <a:lnTo>
                    <a:pt x="2543029" y="0"/>
                  </a:lnTo>
                  <a:cubicBezTo>
                    <a:pt x="2557600" y="0"/>
                    <a:pt x="2571574" y="5788"/>
                    <a:pt x="2581877" y="16091"/>
                  </a:cubicBezTo>
                  <a:cubicBezTo>
                    <a:pt x="2592180" y="26395"/>
                    <a:pt x="2597968" y="40369"/>
                    <a:pt x="2597968" y="54940"/>
                  </a:cubicBezTo>
                  <a:lnTo>
                    <a:pt x="2597968" y="1692383"/>
                  </a:lnTo>
                  <a:cubicBezTo>
                    <a:pt x="2597968" y="1706953"/>
                    <a:pt x="2592180" y="1720928"/>
                    <a:pt x="2581877" y="1731231"/>
                  </a:cubicBezTo>
                  <a:cubicBezTo>
                    <a:pt x="2571574" y="1741534"/>
                    <a:pt x="2557600" y="1747322"/>
                    <a:pt x="2543029" y="1747322"/>
                  </a:cubicBezTo>
                  <a:lnTo>
                    <a:pt x="54940" y="1747322"/>
                  </a:lnTo>
                  <a:cubicBezTo>
                    <a:pt x="40369" y="1747322"/>
                    <a:pt x="26395" y="1741534"/>
                    <a:pt x="16091" y="1731231"/>
                  </a:cubicBezTo>
                  <a:cubicBezTo>
                    <a:pt x="5788" y="1720928"/>
                    <a:pt x="0" y="1706953"/>
                    <a:pt x="0" y="1692383"/>
                  </a:cubicBezTo>
                  <a:lnTo>
                    <a:pt x="0" y="54940"/>
                  </a:lnTo>
                  <a:cubicBezTo>
                    <a:pt x="0" y="40369"/>
                    <a:pt x="5788" y="26395"/>
                    <a:pt x="16091" y="16091"/>
                  </a:cubicBezTo>
                  <a:cubicBezTo>
                    <a:pt x="26395" y="5788"/>
                    <a:pt x="40369" y="0"/>
                    <a:pt x="54940" y="0"/>
                  </a:cubicBezTo>
                  <a:close/>
                </a:path>
              </a:pathLst>
            </a:custGeom>
            <a:solidFill>
              <a:srgbClr val="004B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97968" cy="1804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32081" y="963104"/>
            <a:ext cx="13137452" cy="8116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43"/>
              </a:lnSpc>
            </a:pPr>
            <a:endParaRPr/>
          </a:p>
          <a:p>
            <a:pPr marL="585134" lvl="1" indent="-292567" algn="just">
              <a:lnSpc>
                <a:spcPts val="4607"/>
              </a:lnSpc>
              <a:buFont typeface="Arial"/>
              <a:buChar char="•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Presentation Layer</a:t>
            </a:r>
          </a:p>
          <a:p>
            <a:pPr marL="1170268" lvl="2" indent="-390089" algn="just">
              <a:lnSpc>
                <a:spcPts val="4607"/>
              </a:lnSpc>
              <a:buFont typeface="Arial"/>
              <a:buChar char="⚬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Console-based menu for user interaction.</a:t>
            </a:r>
          </a:p>
          <a:p>
            <a:pPr marL="1170268" lvl="2" indent="-390089" algn="just">
              <a:lnSpc>
                <a:spcPts val="4607"/>
              </a:lnSpc>
              <a:buFont typeface="Arial"/>
              <a:buChar char="⚬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Takes user input (flight selection, passenger details) and displays output (flight list, booking confirmation, passenger list).</a:t>
            </a:r>
          </a:p>
          <a:p>
            <a:pPr marL="585134" lvl="1" indent="-292567" algn="just">
              <a:lnSpc>
                <a:spcPts val="4607"/>
              </a:lnSpc>
              <a:buFont typeface="Arial"/>
              <a:buChar char="•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Application Layer</a:t>
            </a:r>
          </a:p>
          <a:p>
            <a:pPr marL="1170268" lvl="2" indent="-390089" algn="just">
              <a:lnSpc>
                <a:spcPts val="4607"/>
              </a:lnSpc>
              <a:buFont typeface="Arial"/>
              <a:buChar char="⚬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Contains Flight and Passenger classes for managing bookings.</a:t>
            </a:r>
          </a:p>
          <a:p>
            <a:pPr marL="1170268" lvl="2" indent="-390089" algn="just">
              <a:lnSpc>
                <a:spcPts val="4607"/>
              </a:lnSpc>
              <a:buFont typeface="Arial"/>
              <a:buChar char="⚬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Handles seat allocation, availability checks, and passenger list management.</a:t>
            </a:r>
          </a:p>
          <a:p>
            <a:pPr marL="585134" lvl="1" indent="-292567" algn="just">
              <a:lnSpc>
                <a:spcPts val="4607"/>
              </a:lnSpc>
              <a:buFont typeface="Arial"/>
              <a:buChar char="•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Layer</a:t>
            </a:r>
          </a:p>
          <a:p>
            <a:pPr marL="1170268" lvl="2" indent="-390089" algn="just">
              <a:lnSpc>
                <a:spcPts val="4607"/>
              </a:lnSpc>
              <a:buFont typeface="Arial"/>
              <a:buChar char="⚬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ArrayList to store flights, passengers, and seat numbers.</a:t>
            </a:r>
          </a:p>
          <a:p>
            <a:pPr marL="1170268" lvl="2" indent="-390089" algn="just">
              <a:lnSpc>
                <a:spcPts val="4607"/>
              </a:lnSpc>
              <a:buFont typeface="Arial"/>
              <a:buChar char="⚬"/>
            </a:pPr>
            <a:r>
              <a:rPr lang="en-US" sz="27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data temporarily in memory during program execution (no database).</a:t>
            </a:r>
          </a:p>
          <a:p>
            <a:pPr algn="just">
              <a:lnSpc>
                <a:spcPts val="4267"/>
              </a:lnSpc>
            </a:pPr>
            <a:endParaRPr lang="en-US" sz="271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0889" y="354080"/>
            <a:ext cx="6273283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20161" y="-1187065"/>
            <a:ext cx="5041338" cy="11916986"/>
            <a:chOff x="0" y="0"/>
            <a:chExt cx="1327760" cy="3138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7760" cy="3138630"/>
            </a:xfrm>
            <a:custGeom>
              <a:avLst/>
              <a:gdLst/>
              <a:ahLst/>
              <a:cxnLst/>
              <a:rect l="l" t="t" r="r" b="b"/>
              <a:pathLst>
                <a:path w="1327760" h="3138630">
                  <a:moveTo>
                    <a:pt x="107498" y="0"/>
                  </a:moveTo>
                  <a:lnTo>
                    <a:pt x="1220262" y="0"/>
                  </a:lnTo>
                  <a:cubicBezTo>
                    <a:pt x="1248772" y="0"/>
                    <a:pt x="1276115" y="11326"/>
                    <a:pt x="1296274" y="31485"/>
                  </a:cubicBezTo>
                  <a:cubicBezTo>
                    <a:pt x="1316434" y="51645"/>
                    <a:pt x="1327760" y="78988"/>
                    <a:pt x="1327760" y="107498"/>
                  </a:cubicBezTo>
                  <a:lnTo>
                    <a:pt x="1327760" y="3031132"/>
                  </a:lnTo>
                  <a:cubicBezTo>
                    <a:pt x="1327760" y="3090501"/>
                    <a:pt x="1279631" y="3138630"/>
                    <a:pt x="1220262" y="3138630"/>
                  </a:cubicBezTo>
                  <a:lnTo>
                    <a:pt x="107498" y="3138630"/>
                  </a:lnTo>
                  <a:cubicBezTo>
                    <a:pt x="48129" y="3138630"/>
                    <a:pt x="0" y="3090501"/>
                    <a:pt x="0" y="3031132"/>
                  </a:cubicBezTo>
                  <a:lnTo>
                    <a:pt x="0" y="107498"/>
                  </a:lnTo>
                  <a:cubicBezTo>
                    <a:pt x="0" y="48129"/>
                    <a:pt x="48129" y="0"/>
                    <a:pt x="107498" y="0"/>
                  </a:cubicBezTo>
                  <a:close/>
                </a:path>
              </a:pathLst>
            </a:custGeom>
            <a:solidFill>
              <a:srgbClr val="004B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27760" cy="3195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520315"/>
            <a:ext cx="5246370" cy="8579890"/>
            <a:chOff x="0" y="0"/>
            <a:chExt cx="812800" cy="1329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329250"/>
            </a:xfrm>
            <a:custGeom>
              <a:avLst/>
              <a:gdLst/>
              <a:ahLst/>
              <a:cxnLst/>
              <a:rect l="l" t="t" r="r" b="b"/>
              <a:pathLst>
                <a:path w="812800" h="132925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295309"/>
                  </a:lnTo>
                  <a:cubicBezTo>
                    <a:pt x="812800" y="1314054"/>
                    <a:pt x="797604" y="1329250"/>
                    <a:pt x="778860" y="1329250"/>
                  </a:cubicBezTo>
                  <a:lnTo>
                    <a:pt x="33940" y="1329250"/>
                  </a:lnTo>
                  <a:cubicBezTo>
                    <a:pt x="15196" y="1329250"/>
                    <a:pt x="0" y="1314054"/>
                    <a:pt x="0" y="1295309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2"/>
              <a:stretch>
                <a:fillRect l="-31769" r="-31769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4725001" y="411480"/>
            <a:ext cx="9189723" cy="97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6399" b="1">
                <a:solidFill>
                  <a:srgbClr val="004BBC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29269" y="1908034"/>
            <a:ext cx="11858731" cy="778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7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 to Use – Simple menu-driven system for quick navigation.</a:t>
            </a:r>
          </a:p>
          <a:p>
            <a:pPr marL="604519" lvl="1" indent="-302260" algn="just">
              <a:lnSpc>
                <a:spcPts val="47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Seat Allocation – Reduces manual work for seat assignments.</a:t>
            </a:r>
          </a:p>
          <a:p>
            <a:pPr marL="604519" lvl="1" indent="-302260" algn="just">
              <a:lnSpc>
                <a:spcPts val="47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Updates – Immediately reflects booking and seat availability changes.</a:t>
            </a:r>
          </a:p>
          <a:p>
            <a:pPr marL="604519" lvl="1" indent="-302260" algn="just">
              <a:lnSpc>
                <a:spcPts val="47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Prevents Overbooking – Checks seat availability before confirming bookings.</a:t>
            </a:r>
          </a:p>
          <a:p>
            <a:pPr marL="604519" lvl="1" indent="-302260" algn="just">
              <a:lnSpc>
                <a:spcPts val="47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Organized Data – Maintains passenger details linked to their specific flight.</a:t>
            </a:r>
          </a:p>
          <a:p>
            <a:pPr marL="604519" lvl="1" indent="-302260" algn="just">
              <a:lnSpc>
                <a:spcPts val="47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Scalable Design – Can be easily extended to include payments, cancellations, or database support.</a:t>
            </a:r>
          </a:p>
          <a:p>
            <a:pPr marL="604519" lvl="1" indent="-302260" algn="just">
              <a:lnSpc>
                <a:spcPts val="47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Resource Usage – Runs in a console without heavy system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5584" y="1028700"/>
            <a:ext cx="5935366" cy="699826"/>
            <a:chOff x="0" y="0"/>
            <a:chExt cx="836623" cy="986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6623" cy="98644"/>
            </a:xfrm>
            <a:custGeom>
              <a:avLst/>
              <a:gdLst/>
              <a:ahLst/>
              <a:cxnLst/>
              <a:rect l="l" t="t" r="r" b="b"/>
              <a:pathLst>
                <a:path w="836623" h="98644">
                  <a:moveTo>
                    <a:pt x="33914" y="0"/>
                  </a:moveTo>
                  <a:lnTo>
                    <a:pt x="802709" y="0"/>
                  </a:lnTo>
                  <a:cubicBezTo>
                    <a:pt x="811703" y="0"/>
                    <a:pt x="820329" y="3573"/>
                    <a:pt x="826689" y="9933"/>
                  </a:cubicBezTo>
                  <a:cubicBezTo>
                    <a:pt x="833050" y="16293"/>
                    <a:pt x="836623" y="24919"/>
                    <a:pt x="836623" y="33914"/>
                  </a:cubicBezTo>
                  <a:lnTo>
                    <a:pt x="836623" y="64731"/>
                  </a:lnTo>
                  <a:cubicBezTo>
                    <a:pt x="836623" y="73725"/>
                    <a:pt x="833050" y="82351"/>
                    <a:pt x="826689" y="88711"/>
                  </a:cubicBezTo>
                  <a:cubicBezTo>
                    <a:pt x="820329" y="95071"/>
                    <a:pt x="811703" y="98644"/>
                    <a:pt x="802709" y="98644"/>
                  </a:cubicBezTo>
                  <a:lnTo>
                    <a:pt x="33914" y="98644"/>
                  </a:lnTo>
                  <a:cubicBezTo>
                    <a:pt x="24919" y="98644"/>
                    <a:pt x="16293" y="95071"/>
                    <a:pt x="9933" y="88711"/>
                  </a:cubicBezTo>
                  <a:cubicBezTo>
                    <a:pt x="3573" y="82351"/>
                    <a:pt x="0" y="73725"/>
                    <a:pt x="0" y="64731"/>
                  </a:cubicBezTo>
                  <a:lnTo>
                    <a:pt x="0" y="33914"/>
                  </a:lnTo>
                  <a:cubicBezTo>
                    <a:pt x="0" y="24919"/>
                    <a:pt x="3573" y="16293"/>
                    <a:pt x="9933" y="9933"/>
                  </a:cubicBezTo>
                  <a:cubicBezTo>
                    <a:pt x="16293" y="3573"/>
                    <a:pt x="24919" y="0"/>
                    <a:pt x="33914" y="0"/>
                  </a:cubicBezTo>
                  <a:close/>
                </a:path>
              </a:pathLst>
            </a:custGeom>
            <a:solidFill>
              <a:srgbClr val="E667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36623" cy="146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CONCLUSION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58060" y="2483248"/>
            <a:ext cx="8078286" cy="8246672"/>
            <a:chOff x="0" y="0"/>
            <a:chExt cx="2127614" cy="21719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7614" cy="2171963"/>
            </a:xfrm>
            <a:custGeom>
              <a:avLst/>
              <a:gdLst/>
              <a:ahLst/>
              <a:cxnLst/>
              <a:rect l="l" t="t" r="r" b="b"/>
              <a:pathLst>
                <a:path w="2127614" h="2171963">
                  <a:moveTo>
                    <a:pt x="67085" y="0"/>
                  </a:moveTo>
                  <a:lnTo>
                    <a:pt x="2060529" y="0"/>
                  </a:lnTo>
                  <a:cubicBezTo>
                    <a:pt x="2097579" y="0"/>
                    <a:pt x="2127614" y="30035"/>
                    <a:pt x="2127614" y="67085"/>
                  </a:cubicBezTo>
                  <a:lnTo>
                    <a:pt x="2127614" y="2104878"/>
                  </a:lnTo>
                  <a:cubicBezTo>
                    <a:pt x="2127614" y="2141928"/>
                    <a:pt x="2097579" y="2171963"/>
                    <a:pt x="2060529" y="2171963"/>
                  </a:cubicBezTo>
                  <a:lnTo>
                    <a:pt x="67085" y="2171963"/>
                  </a:lnTo>
                  <a:cubicBezTo>
                    <a:pt x="30035" y="2171963"/>
                    <a:pt x="0" y="2141928"/>
                    <a:pt x="0" y="2104878"/>
                  </a:cubicBezTo>
                  <a:lnTo>
                    <a:pt x="0" y="67085"/>
                  </a:lnTo>
                  <a:cubicBezTo>
                    <a:pt x="0" y="30035"/>
                    <a:pt x="30035" y="0"/>
                    <a:pt x="67085" y="0"/>
                  </a:cubicBezTo>
                  <a:close/>
                </a:path>
              </a:pathLst>
            </a:custGeom>
            <a:solidFill>
              <a:srgbClr val="004BB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27614" cy="2229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139326" y="-859318"/>
            <a:ext cx="3033761" cy="6002818"/>
            <a:chOff x="0" y="0"/>
            <a:chExt cx="2620010" cy="5184140"/>
          </a:xfrm>
        </p:grpSpPr>
        <p:sp>
          <p:nvSpPr>
            <p:cNvPr id="9" name="Freeform 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12324" r="-112324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441179" y="4550379"/>
            <a:ext cx="3033761" cy="6002818"/>
            <a:chOff x="0" y="0"/>
            <a:chExt cx="2620010" cy="5184140"/>
          </a:xfrm>
        </p:grpSpPr>
        <p:sp>
          <p:nvSpPr>
            <p:cNvPr id="19" name="Freeform 1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2189" r="-22189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600950" y="3600450"/>
            <a:ext cx="3086100" cy="308610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4224" y="2503588"/>
            <a:ext cx="10176954" cy="6392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395" lvl="1" indent="-293198" algn="just">
              <a:lnSpc>
                <a:spcPts val="4617"/>
              </a:lnSpc>
              <a:buFont typeface="Arial"/>
              <a:buChar char="•"/>
            </a:pPr>
            <a:r>
              <a:rPr lang="en-US" sz="2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ARS has transformed airline ticket booking into a faster, error-free process.</a:t>
            </a:r>
          </a:p>
          <a:p>
            <a:pPr marL="586395" lvl="1" indent="-293198" algn="just">
              <a:lnSpc>
                <a:spcPts val="4617"/>
              </a:lnSpc>
              <a:buFont typeface="Arial"/>
              <a:buChar char="•"/>
            </a:pPr>
            <a:r>
              <a:rPr lang="en-US" sz="2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Ensures real-time accuracy in flight and passenger data.</a:t>
            </a:r>
          </a:p>
          <a:p>
            <a:pPr marL="586395" lvl="1" indent="-293198" algn="just">
              <a:lnSpc>
                <a:spcPts val="4617"/>
              </a:lnSpc>
              <a:buFont typeface="Arial"/>
              <a:buChar char="•"/>
            </a:pPr>
            <a:r>
              <a:rPr lang="en-US" sz="2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customer satisfaction through convenience and speed.</a:t>
            </a:r>
          </a:p>
          <a:p>
            <a:pPr marL="586395" lvl="1" indent="-293198" algn="just">
              <a:lnSpc>
                <a:spcPts val="4617"/>
              </a:lnSpc>
              <a:buFont typeface="Arial"/>
              <a:buChar char="•"/>
            </a:pPr>
            <a:r>
              <a:rPr lang="en-US" sz="2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airlines optimize resources and increase profitability.</a:t>
            </a:r>
          </a:p>
          <a:p>
            <a:pPr marL="586395" lvl="1" indent="-293198" algn="just">
              <a:lnSpc>
                <a:spcPts val="4617"/>
              </a:lnSpc>
              <a:buFont typeface="Arial"/>
              <a:buChar char="•"/>
            </a:pPr>
            <a:r>
              <a:rPr lang="en-US" sz="2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essential tool in the modern aviation industry for smooth travel management</a:t>
            </a:r>
          </a:p>
          <a:p>
            <a:pPr algn="just">
              <a:lnSpc>
                <a:spcPts val="4617"/>
              </a:lnSpc>
            </a:pPr>
            <a:endParaRPr lang="en-US" sz="271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33592" y="3086447"/>
            <a:ext cx="13820815" cy="205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0"/>
              </a:lnSpc>
            </a:pPr>
            <a:r>
              <a:rPr lang="en-US" sz="1398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911213" y="5213784"/>
            <a:ext cx="8465575" cy="825352"/>
            <a:chOff x="0" y="0"/>
            <a:chExt cx="1979404" cy="1929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9404" cy="192982"/>
            </a:xfrm>
            <a:custGeom>
              <a:avLst/>
              <a:gdLst/>
              <a:ahLst/>
              <a:cxnLst/>
              <a:rect l="l" t="t" r="r" b="b"/>
              <a:pathLst>
                <a:path w="1979404" h="192982">
                  <a:moveTo>
                    <a:pt x="41153" y="0"/>
                  </a:moveTo>
                  <a:lnTo>
                    <a:pt x="1938251" y="0"/>
                  </a:lnTo>
                  <a:cubicBezTo>
                    <a:pt x="1960979" y="0"/>
                    <a:pt x="1979404" y="18425"/>
                    <a:pt x="1979404" y="41153"/>
                  </a:cubicBezTo>
                  <a:lnTo>
                    <a:pt x="1979404" y="151829"/>
                  </a:lnTo>
                  <a:cubicBezTo>
                    <a:pt x="1979404" y="162744"/>
                    <a:pt x="1975068" y="173211"/>
                    <a:pt x="1967351" y="180929"/>
                  </a:cubicBezTo>
                  <a:cubicBezTo>
                    <a:pt x="1959633" y="188646"/>
                    <a:pt x="1949165" y="192982"/>
                    <a:pt x="1938251" y="192982"/>
                  </a:cubicBezTo>
                  <a:lnTo>
                    <a:pt x="41153" y="192982"/>
                  </a:lnTo>
                  <a:cubicBezTo>
                    <a:pt x="18425" y="192982"/>
                    <a:pt x="0" y="174557"/>
                    <a:pt x="0" y="151829"/>
                  </a:cubicBezTo>
                  <a:lnTo>
                    <a:pt x="0" y="41153"/>
                  </a:lnTo>
                  <a:cubicBezTo>
                    <a:pt x="0" y="18425"/>
                    <a:pt x="18425" y="0"/>
                    <a:pt x="4115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1979404" cy="259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From BATCH 9😊👍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479</Words>
  <Application>Microsoft Office PowerPoint</Application>
  <PresentationFormat>Custom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Poppins Bold</vt:lpstr>
      <vt:lpstr>Poppins Semi-Bold</vt:lpstr>
      <vt:lpstr>Calibri</vt:lpstr>
      <vt:lpstr>Canva Sans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AIRLINES(JAVA)</dc:title>
  <cp:lastModifiedBy>GOPIKA RAJA</cp:lastModifiedBy>
  <cp:revision>1</cp:revision>
  <dcterms:created xsi:type="dcterms:W3CDTF">2006-08-16T00:00:00Z</dcterms:created>
  <dcterms:modified xsi:type="dcterms:W3CDTF">2026-05-12T09:31:09Z</dcterms:modified>
  <dc:identifier>DAGv7q9AaMs</dc:identifier>
</cp:coreProperties>
</file>