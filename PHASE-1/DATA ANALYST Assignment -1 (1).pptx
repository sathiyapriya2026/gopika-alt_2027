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7F9F-0840-19A2-9AE8-8CF283DBE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8F61A-9309-F350-8FC1-EE9D4F524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085FF-9B19-DFC9-3BC2-C21CBD81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C1020-168C-7B29-47F3-3E354937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7D47-77EF-F972-A53F-3E66361C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73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E18D-1E37-8650-2E47-2B08C5AA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7AB33-BCDC-0DD6-36BF-D59D5C55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4BBE-C0AB-0F4D-B182-48E3BD29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92E28-662A-4FF8-1A24-CEA8B0B6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36FFE-868D-CADC-3E80-F47335DA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4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3D13-FA00-9C44-72D5-23043929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A26B3-91DC-1418-E584-68099C4D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0E2E2-1CE7-23B3-51E3-FA5A377C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A9C8-EA28-F9EB-EC2B-F9FAE14F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307A4-3369-991E-3F32-BB89A1D2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55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4CD6-9BDA-8539-85A1-564B50AA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9D50-4BB1-8950-9F8A-09C66BB9C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27C31-D8DF-D7E0-9349-6E4D4540A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69D4A-A4ED-4133-E36C-0BF1B0DD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28A56-2D96-E25F-BD79-45F24419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16748-AF76-9494-BA23-F92C738E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18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761C-D102-8480-366E-2773CE95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2E679-EE67-0FAC-B5EF-E52B9E153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B9F66-DB7C-F1CA-D6F6-A42B0FF6E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3529B-3258-32C4-A253-DB8B8464A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3FAE07-B06F-61FA-9DCA-04EF7A2CD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8A126-26C2-869F-430E-159005C6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80DCF-1E67-B6C7-BCC2-B9EA147C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93EBA-8C78-D276-D3A3-E2DFA5F8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99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7EB7-AF98-83DA-DCC2-E55CAF03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DE448-9DAC-726B-46D1-E3AA694B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3AA64-2961-2D07-7DD2-C1CD950D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B389D-9C78-995A-BF10-2AF839C4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85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8E486-48EC-8348-6278-AFC3277F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FF515-9C02-59FB-9BAE-3D52EA24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A45A6-19D0-D73D-9B4C-98C5BE9A6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5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38D0-CC12-D018-89D9-7B2D3B00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16F2-9C07-0335-C6AD-C00B63DE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F8A8C-B79C-237E-59C8-A14866C07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FD27D-8608-CB3D-926E-A46110AA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82F3B-6F89-34E0-ACE1-B052A516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AAF15-3C28-4F0C-A0C6-A93F5ED1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1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0AB9-3C51-5426-1789-115CC8276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D1F75-DAE4-12F3-638F-FD67268AF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D220F-168A-FC5F-02B2-F05FCDAEE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E812A-225C-07AF-57AF-42B65295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BA6F2-9502-6F77-845B-4AF89C01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46CB6-9EFE-EA20-6615-1F695455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5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2FA6-6BE6-05F6-73EB-EB791F59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3EC19-A37C-4EE2-5322-C6CF375DB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CE995-814A-7E6C-D1FE-AA00974A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41B2D-F192-CD34-E7EE-09019F33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0484-3F3A-F6E6-B1C5-B5B3EDB3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5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7A740-7202-A534-4BCD-E6ED26337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52CC7-6256-4B4E-E302-02F43694C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21422-CB8C-58CF-7062-D95310C9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D9ED-B5E4-7547-5F80-BDAE6699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15DE-29D7-D4C8-F4F5-AD893D3F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6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B7CBC-EABF-F693-417E-C03C867D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8036D-9AA8-E886-CF1A-BF8488A7D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6393-16A0-B964-037A-95316193F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37934-5CF8-4266-A329-D12F4891591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6FB1E-74BB-8CAB-1081-B8C8586EB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11AA4-3A7C-DBE9-0873-2243C6EA2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1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CD58-F576-E7C2-0CE0-443B4ADA7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787" y="1545150"/>
            <a:ext cx="11346425" cy="1655762"/>
          </a:xfrm>
        </p:spPr>
        <p:txBody>
          <a:bodyPr>
            <a:normAutofit/>
          </a:bodyPr>
          <a:lstStyle/>
          <a:p>
            <a:r>
              <a:rPr lang="en-US" dirty="0"/>
              <a:t>DATA ANALYST Assignment -1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F171B-90A7-C4AD-B0DC-6F7878DB4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0912"/>
            <a:ext cx="9144000" cy="2091813"/>
          </a:xfrm>
        </p:spPr>
        <p:txBody>
          <a:bodyPr/>
          <a:lstStyle/>
          <a:p>
            <a:r>
              <a:rPr lang="en-US" dirty="0"/>
              <a:t>Thinking Like a Data Analyst – Business to Insight</a:t>
            </a:r>
          </a:p>
          <a:p>
            <a:r>
              <a:rPr lang="en-US" dirty="0"/>
              <a:t>For Placement Training – By R. </a:t>
            </a:r>
            <a:r>
              <a:rPr lang="en-US" dirty="0" err="1"/>
              <a:t>Gopika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98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F124-3BD0-483E-FADC-1EFEE676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230085"/>
            <a:ext cx="10970342" cy="450952"/>
          </a:xfrm>
        </p:spPr>
        <p:txBody>
          <a:bodyPr>
            <a:normAutofit fontScale="90000"/>
          </a:bodyPr>
          <a:lstStyle/>
          <a:p>
            <a:r>
              <a:rPr lang="en-IN" dirty="0"/>
              <a:t>SECTION 1: Core Concepts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88FA-2AA8-E64A-C913-F7912FB11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835742"/>
            <a:ext cx="10793361" cy="5341221"/>
          </a:xfrm>
        </p:spPr>
        <p:txBody>
          <a:bodyPr/>
          <a:lstStyle/>
          <a:p>
            <a:r>
              <a:rPr lang="en-US" sz="1400" b="1" dirty="0"/>
              <a:t>Data-</a:t>
            </a:r>
            <a:r>
              <a:rPr lang="en-US" sz="1400" dirty="0"/>
              <a:t>Data is a collection of information in raw or unorganized form. </a:t>
            </a:r>
          </a:p>
          <a:p>
            <a:r>
              <a:rPr lang="en-US" sz="1400" dirty="0"/>
              <a:t>example:</a:t>
            </a:r>
            <a:br>
              <a:rPr lang="en-US" sz="1400" dirty="0"/>
            </a:br>
            <a:r>
              <a:rPr lang="en-US" sz="1400" dirty="0"/>
              <a:t>A list of numbers showing daily sales is data.</a:t>
            </a:r>
          </a:p>
          <a:p>
            <a:r>
              <a:rPr lang="en-US" sz="1400" b="1" dirty="0"/>
              <a:t>Data Analytics-</a:t>
            </a:r>
            <a:r>
              <a:rPr lang="en-US" sz="1400" dirty="0"/>
              <a:t>Data analytics is the process of looking at data to understand what is happening and to make better decisions.</a:t>
            </a:r>
          </a:p>
          <a:p>
            <a:pPr marL="0" indent="0">
              <a:buNone/>
            </a:pPr>
            <a:r>
              <a:rPr lang="en-US" sz="1400" dirty="0"/>
              <a:t>example:</a:t>
            </a:r>
            <a:br>
              <a:rPr lang="en-US" sz="1400" dirty="0"/>
            </a:br>
            <a:r>
              <a:rPr lang="en-US" sz="1400" dirty="0"/>
              <a:t>Checking sales data to find which product is selling more is data analytics.</a:t>
            </a:r>
          </a:p>
          <a:p>
            <a:r>
              <a:rPr lang="en-US" sz="1400" b="1" dirty="0"/>
              <a:t>Difference between Data and Information-</a:t>
            </a:r>
            <a:r>
              <a:rPr lang="en-US" sz="1400" dirty="0"/>
              <a:t>Data is raw and unprocessed, while information is meaningful and easy to understand. Information is created when data is analyzed</a:t>
            </a:r>
          </a:p>
          <a:p>
            <a:r>
              <a:rPr lang="en-US" sz="1400" dirty="0"/>
              <a:t>example:</a:t>
            </a:r>
            <a:br>
              <a:rPr lang="en-US" sz="1400" dirty="0"/>
            </a:br>
            <a:r>
              <a:rPr lang="en-US" sz="1400" dirty="0"/>
              <a:t>Marks of students are data, but knowing the class average and top scorer is information.</a:t>
            </a:r>
          </a:p>
          <a:p>
            <a:r>
              <a:rPr lang="en-US" sz="1400" b="1" dirty="0"/>
              <a:t>Why companies invest heavily in data analytics</a:t>
            </a:r>
          </a:p>
          <a:p>
            <a:endParaRPr lang="en-US" sz="1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02F4DD-C080-99D4-BC3C-AD74AD6B6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602" y="3868639"/>
            <a:ext cx="73250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use data instead of guessing.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shop checks sales before ordering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 customer needs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learn what customers like.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app shows products based on user interest.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sales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helps find which products sell more.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store keeps more fast-selling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cost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find where money is wasted.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company reduces extra stock.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work process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helps fix problems in daily work.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delivery company improves late deliveries.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70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A132-1F82-6BD2-D116-B360CD9C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18256"/>
            <a:ext cx="11039168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SECTION 2: Types of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FAE0E-43E0-239D-4A7F-811E08238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681037"/>
            <a:ext cx="11039168" cy="5495926"/>
          </a:xfrm>
        </p:spPr>
        <p:txBody>
          <a:bodyPr>
            <a:normAutofit/>
          </a:bodyPr>
          <a:lstStyle/>
          <a:p>
            <a:r>
              <a:rPr lang="en-US" sz="1400" b="1" dirty="0"/>
              <a:t>Types of Data</a:t>
            </a:r>
          </a:p>
          <a:p>
            <a:r>
              <a:rPr lang="en-US" sz="1400" b="1" dirty="0"/>
              <a:t>Structured Data-</a:t>
            </a:r>
            <a:r>
              <a:rPr lang="en-US" sz="1400" dirty="0"/>
              <a:t>Data  is arranged in rows and columns.</a:t>
            </a:r>
          </a:p>
          <a:p>
            <a:r>
              <a:rPr lang="en-US" sz="1400" b="1" dirty="0"/>
              <a:t>Semi-Structured Data-</a:t>
            </a:r>
            <a:r>
              <a:rPr lang="en-US" sz="1400" dirty="0"/>
              <a:t>Data  is  arranged but not in a table form.</a:t>
            </a:r>
          </a:p>
          <a:p>
            <a:r>
              <a:rPr lang="en-US" sz="1400" b="1" dirty="0"/>
              <a:t>Unstructured Data-</a:t>
            </a:r>
            <a:r>
              <a:rPr lang="en-US" sz="1400" dirty="0"/>
              <a:t>Data  is not arranged in rows and columns.</a:t>
            </a:r>
            <a:br>
              <a:rPr lang="en-US" sz="1400" dirty="0"/>
            </a:br>
            <a:r>
              <a:rPr lang="en-US" sz="1400" b="1" dirty="0"/>
              <a:t>Type of Data and Nature</a:t>
            </a:r>
          </a:p>
          <a:p>
            <a:r>
              <a:rPr lang="en-US" sz="1400" dirty="0"/>
              <a:t>a) Customer age-Quantitative</a:t>
            </a:r>
          </a:p>
          <a:p>
            <a:r>
              <a:rPr lang="en-US" sz="1400" dirty="0"/>
              <a:t>b) Netflix movie review text-Qualitative</a:t>
            </a:r>
          </a:p>
          <a:p>
            <a:r>
              <a:rPr lang="en-US" sz="1400" dirty="0"/>
              <a:t>c) Bank transaction table-Quantitative</a:t>
            </a:r>
          </a:p>
          <a:p>
            <a:r>
              <a:rPr lang="en-US" sz="1400" dirty="0"/>
              <a:t>d) Uber GPS coordinates-Quantitative</a:t>
            </a:r>
          </a:p>
          <a:p>
            <a:r>
              <a:rPr lang="en-US" sz="1400" dirty="0"/>
              <a:t>e) Amazon product ratings (1–5)-Quantitative</a:t>
            </a:r>
          </a:p>
          <a:p>
            <a:r>
              <a:rPr lang="en-US" sz="1400" b="1" dirty="0"/>
              <a:t>Convert unstructured data into structured form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F9BC9F-781C-07F3-9770-0B50389B4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85488"/>
              </p:ext>
            </p:extLst>
          </p:nvPr>
        </p:nvGraphicFramePr>
        <p:xfrm>
          <a:off x="1199535" y="4245626"/>
          <a:ext cx="9429136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10445">
                  <a:extLst>
                    <a:ext uri="{9D8B030D-6E8A-4147-A177-3AD203B41FA5}">
                      <a16:colId xmlns:a16="http://schemas.microsoft.com/office/drawing/2014/main" val="3016065195"/>
                    </a:ext>
                  </a:extLst>
                </a:gridCol>
                <a:gridCol w="1387178">
                  <a:extLst>
                    <a:ext uri="{9D8B030D-6E8A-4147-A177-3AD203B41FA5}">
                      <a16:colId xmlns:a16="http://schemas.microsoft.com/office/drawing/2014/main" val="254605151"/>
                    </a:ext>
                  </a:extLst>
                </a:gridCol>
                <a:gridCol w="2531513">
                  <a:extLst>
                    <a:ext uri="{9D8B030D-6E8A-4147-A177-3AD203B41FA5}">
                      <a16:colId xmlns:a16="http://schemas.microsoft.com/office/drawing/2014/main" val="1050456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feedback_text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9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delivery was late and customer support was 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Delivery and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38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52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8CF7-DB4F-490B-BC35-3CF6FAF6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03" y="301790"/>
            <a:ext cx="10515600" cy="758493"/>
          </a:xfrm>
        </p:spPr>
        <p:txBody>
          <a:bodyPr/>
          <a:lstStyle/>
          <a:p>
            <a:r>
              <a:rPr lang="en-US" dirty="0"/>
              <a:t>SECTION 3: Analytics Types Mapping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49EB83-F2C3-8A7E-8A65-64897B7D5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941395"/>
              </p:ext>
            </p:extLst>
          </p:nvPr>
        </p:nvGraphicFramePr>
        <p:xfrm>
          <a:off x="838200" y="1805754"/>
          <a:ext cx="10515600" cy="34643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628076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6924524"/>
                    </a:ext>
                  </a:extLst>
                </a:gridCol>
              </a:tblGrid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Business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Analytics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202427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Why are users uninstalling our app?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Diagnostic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302530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many users logged in yesterday?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Descriptive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932676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will next month’s revenue be?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Predictive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777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Which action should reduce churn?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Prescriptive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7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214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223D-1CAD-D516-44D3-726480FD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09" y="146076"/>
            <a:ext cx="1093101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SECTION 4: Industry Use-Case Deep Dive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6046A1-87F8-CB55-BEC5-C2ABA6CAEC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49057"/>
              </p:ext>
            </p:extLst>
          </p:nvPr>
        </p:nvGraphicFramePr>
        <p:xfrm>
          <a:off x="294968" y="808858"/>
          <a:ext cx="9183329" cy="59242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95475774"/>
                    </a:ext>
                  </a:extLst>
                </a:gridCol>
                <a:gridCol w="3738907">
                  <a:extLst>
                    <a:ext uri="{9D8B030D-6E8A-4147-A177-3AD203B41FA5}">
                      <a16:colId xmlns:a16="http://schemas.microsoft.com/office/drawing/2014/main" val="3699128913"/>
                    </a:ext>
                  </a:extLst>
                </a:gridCol>
                <a:gridCol w="3920422">
                  <a:extLst>
                    <a:ext uri="{9D8B030D-6E8A-4147-A177-3AD203B41FA5}">
                      <a16:colId xmlns:a16="http://schemas.microsoft.com/office/drawing/2014/main" val="953385805"/>
                    </a:ext>
                  </a:extLst>
                </a:gridCol>
              </a:tblGrid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Company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 type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Why it is collected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204300637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know users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491850393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Watch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what users watch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4768567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Search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what users search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950924800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Subscription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manage payment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069339885"/>
                  </a:ext>
                </a:extLst>
              </a:tr>
              <a:tr h="220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Ratings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improve shows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25394652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Customer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know customers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91047498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Order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what customers buy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4187435457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Search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suggest products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975902142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Payment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complete payment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18209486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Reviews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improve products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851886132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riders and drivers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418303986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Trip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track rides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82720101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Location data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find pickup and drop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20061812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Payment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process payment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561359910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Ratings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improve service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39282524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Customer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know customers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53344417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Account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manage accounts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949143406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Transaction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track money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429029165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Loan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manage loans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35200807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Complaints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improve service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904956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04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F5D1-58C9-EF37-3151-50EDF7AA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318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C6791-FBFC-A772-8C1E-FC72F4160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3" y="412954"/>
            <a:ext cx="11464413" cy="61880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Netflix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Past views using watch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low views using reviews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Next month views using past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</a:t>
            </a:r>
            <a:r>
              <a:rPr lang="en-US" sz="1400" b="1" dirty="0"/>
              <a:t>:</a:t>
            </a:r>
            <a:r>
              <a:rPr lang="en-US" sz="1400" dirty="0"/>
              <a:t> Best action to increase views</a:t>
            </a:r>
          </a:p>
          <a:p>
            <a:pPr marL="0" indent="0">
              <a:buNone/>
            </a:pPr>
            <a:r>
              <a:rPr lang="en-US" sz="2000" b="1" dirty="0"/>
              <a:t>Amazon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Past sales using order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low sales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Next month sales using past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Prescriptive: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/>
              <a:t>Best action to increase sales</a:t>
            </a:r>
          </a:p>
          <a:p>
            <a:pPr marL="0" indent="0">
              <a:buNone/>
            </a:pPr>
            <a:r>
              <a:rPr lang="en-US" sz="2200" b="1" dirty="0"/>
              <a:t>Uber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Total rides using trip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fewer rides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Future rides using past trips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</a:t>
            </a:r>
            <a:r>
              <a:rPr lang="en-US" sz="1400" b="1" dirty="0"/>
              <a:t>:</a:t>
            </a:r>
            <a:r>
              <a:rPr lang="en-US" sz="1400" dirty="0"/>
              <a:t> Best action to increase rides</a:t>
            </a:r>
          </a:p>
          <a:p>
            <a:pPr marL="0" indent="0">
              <a:buNone/>
            </a:pPr>
            <a:r>
              <a:rPr lang="en-US" sz="2200" b="1" dirty="0"/>
              <a:t>Bank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Past income using transaction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low income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Future income using past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</a:t>
            </a:r>
            <a:r>
              <a:rPr lang="en-US" sz="1400" b="1" dirty="0"/>
              <a:t>:</a:t>
            </a:r>
            <a:r>
              <a:rPr lang="en-US" sz="1400" dirty="0"/>
              <a:t> Best action to improve income</a:t>
            </a:r>
          </a:p>
          <a:p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29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D0A8-32B2-48C5-0540-A43DC6E6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647"/>
            <a:ext cx="10515600" cy="716423"/>
          </a:xfrm>
        </p:spPr>
        <p:txBody>
          <a:bodyPr/>
          <a:lstStyle/>
          <a:p>
            <a:r>
              <a:rPr lang="en-US" dirty="0"/>
              <a:t>SECTION 5: Analyst Thinking Test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254A0-80AC-B8D6-0FCB-AA0A7369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6" y="875070"/>
            <a:ext cx="11144864" cy="59829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1.Questions to ask first</a:t>
            </a:r>
          </a:p>
          <a:p>
            <a:r>
              <a:rPr lang="en-US" sz="2000" dirty="0"/>
              <a:t>When did revenue start falling?</a:t>
            </a:r>
          </a:p>
          <a:p>
            <a:r>
              <a:rPr lang="en-US" sz="2000" dirty="0"/>
              <a:t>Which product or service is affected?</a:t>
            </a:r>
          </a:p>
          <a:p>
            <a:r>
              <a:rPr lang="en-US" sz="2000" dirty="0"/>
              <a:t>Are fewer customers buying?</a:t>
            </a:r>
          </a:p>
          <a:p>
            <a:r>
              <a:rPr lang="en-US" sz="2000" dirty="0"/>
              <a:t>Did prices change?</a:t>
            </a:r>
          </a:p>
          <a:p>
            <a:r>
              <a:rPr lang="en-US" sz="2000" dirty="0"/>
              <a:t>Is this happening in all locations?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Data to request</a:t>
            </a:r>
          </a:p>
          <a:p>
            <a:r>
              <a:rPr lang="en-US" sz="1800" dirty="0"/>
              <a:t>Sales data</a:t>
            </a:r>
          </a:p>
          <a:p>
            <a:r>
              <a:rPr lang="en-US" sz="1800" dirty="0"/>
              <a:t>Customer data</a:t>
            </a:r>
          </a:p>
          <a:p>
            <a:r>
              <a:rPr lang="en-US" sz="1800" dirty="0"/>
              <a:t>Product data</a:t>
            </a:r>
          </a:p>
          <a:p>
            <a:r>
              <a:rPr lang="en-US" sz="1800" dirty="0"/>
              <a:t>Price data</a:t>
            </a:r>
          </a:p>
          <a:p>
            <a:r>
              <a:rPr lang="en-US" sz="1800" dirty="0"/>
              <a:t>Time-based sales data</a:t>
            </a:r>
          </a:p>
          <a:p>
            <a:pPr marL="0" indent="0">
              <a:buNone/>
            </a:pPr>
            <a:r>
              <a:rPr lang="en-US" b="1" dirty="0"/>
              <a:t>3. Metrics to analyze</a:t>
            </a:r>
          </a:p>
          <a:p>
            <a:r>
              <a:rPr lang="en-US" sz="1700" dirty="0"/>
              <a:t>Total revenue</a:t>
            </a:r>
          </a:p>
          <a:p>
            <a:r>
              <a:rPr lang="en-US" sz="1700" dirty="0"/>
              <a:t>Number of customers</a:t>
            </a:r>
          </a:p>
          <a:p>
            <a:r>
              <a:rPr lang="en-US" sz="1700" dirty="0"/>
              <a:t>Number of orders</a:t>
            </a:r>
          </a:p>
          <a:p>
            <a:r>
              <a:rPr lang="en-US" sz="1700" dirty="0"/>
              <a:t>Average sale value</a:t>
            </a:r>
          </a:p>
          <a:p>
            <a:r>
              <a:rPr lang="en-US" sz="1700" dirty="0"/>
              <a:t>Customer repeat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71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DCAC-5189-67F2-38E1-EFEC8B38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22"/>
            <a:ext cx="11058832" cy="942565"/>
          </a:xfrm>
        </p:spPr>
        <p:txBody>
          <a:bodyPr/>
          <a:lstStyle/>
          <a:p>
            <a:r>
              <a:rPr lang="en-IN" dirty="0"/>
              <a:t>SECTION 6: Insight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072A6-6D6A-EF8F-079C-3C08EA0DB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130710"/>
            <a:ext cx="11058832" cy="5046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analytics means using business data to understand what is happening in the company.</a:t>
            </a:r>
            <a:br>
              <a:rPr lang="en-US" dirty="0"/>
            </a:br>
            <a:r>
              <a:rPr lang="en-US" dirty="0"/>
              <a:t>It helps leaders make decisions based on facts.</a:t>
            </a:r>
            <a:br>
              <a:rPr lang="en-US" dirty="0"/>
            </a:br>
            <a:r>
              <a:rPr lang="en-US" dirty="0"/>
              <a:t>Analytics shows where the business is doing well and where it is losing money.</a:t>
            </a:r>
            <a:br>
              <a:rPr lang="en-US" dirty="0"/>
            </a:br>
            <a:r>
              <a:rPr lang="en-US" dirty="0"/>
              <a:t>It helps improve customer satisfaction and reduce unnecessary costs.</a:t>
            </a:r>
            <a:br>
              <a:rPr lang="en-US" dirty="0"/>
            </a:br>
            <a:r>
              <a:rPr lang="en-US" dirty="0"/>
              <a:t>Using data analytics helps the business grow and stay competitive.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68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784</Words>
  <Application>Microsoft Office PowerPoint</Application>
  <PresentationFormat>Widescreen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ANALYST Assignment -1</vt:lpstr>
      <vt:lpstr>SECTION 1: Core Concepts </vt:lpstr>
      <vt:lpstr>SECTION 2: Types of Data</vt:lpstr>
      <vt:lpstr>SECTION 3: Analytics Types Mapping</vt:lpstr>
      <vt:lpstr>SECTION 4: Industry Use-Case Deep Dive</vt:lpstr>
      <vt:lpstr>PowerPoint Presentation</vt:lpstr>
      <vt:lpstr>SECTION 5: Analyst Thinking Test</vt:lpstr>
      <vt:lpstr>SECTION 6: Insight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Assignment -1</dc:title>
  <dc:creator>Elakkiya S</dc:creator>
  <cp:lastModifiedBy>Administrator</cp:lastModifiedBy>
  <cp:revision>2</cp:revision>
  <dcterms:created xsi:type="dcterms:W3CDTF">2026-02-04T05:52:05Z</dcterms:created>
  <dcterms:modified xsi:type="dcterms:W3CDTF">2026-04-01T09:32:19Z</dcterms:modified>
</cp:coreProperties>
</file>